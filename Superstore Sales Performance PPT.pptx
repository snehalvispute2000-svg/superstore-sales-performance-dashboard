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4EE89D-30BD-427F-AB3E-B9AC87AB33B8}"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E0376-D252-4487-B37D-0F9E0433231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072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4EE89D-30BD-427F-AB3E-B9AC87AB33B8}"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E0376-D252-4487-B37D-0F9E04332317}" type="slidenum">
              <a:rPr lang="en-IN" smtClean="0"/>
              <a:t>‹#›</a:t>
            </a:fld>
            <a:endParaRPr lang="en-IN"/>
          </a:p>
        </p:txBody>
      </p:sp>
    </p:spTree>
    <p:extLst>
      <p:ext uri="{BB962C8B-B14F-4D97-AF65-F5344CB8AC3E}">
        <p14:creationId xmlns:p14="http://schemas.microsoft.com/office/powerpoint/2010/main" val="507661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4EE89D-30BD-427F-AB3E-B9AC87AB33B8}"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E0376-D252-4487-B37D-0F9E0433231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63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4EE89D-30BD-427F-AB3E-B9AC87AB33B8}" type="datetimeFigureOut">
              <a:rPr lang="en-IN" smtClean="0"/>
              <a:t>02-07-2026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5E0376-D252-4487-B37D-0F9E04332317}" type="slidenum">
              <a:rPr lang="en-IN" smtClean="0"/>
              <a:t>‹#›</a:t>
            </a:fld>
            <a:endParaRPr lang="en-IN"/>
          </a:p>
        </p:txBody>
      </p:sp>
    </p:spTree>
    <p:extLst>
      <p:ext uri="{BB962C8B-B14F-4D97-AF65-F5344CB8AC3E}">
        <p14:creationId xmlns:p14="http://schemas.microsoft.com/office/powerpoint/2010/main" val="27461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4EE89D-30BD-427F-AB3E-B9AC87AB33B8}" type="datetimeFigureOut">
              <a:rPr lang="en-IN" smtClean="0"/>
              <a:t>02-07-2026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5E0376-D252-4487-B37D-0F9E04332317}" type="slidenum">
              <a:rPr lang="en-IN" smtClean="0"/>
              <a:t>‹#›</a:t>
            </a:fld>
            <a:endParaRPr lang="en-IN"/>
          </a:p>
        </p:txBody>
      </p:sp>
    </p:spTree>
    <p:extLst>
      <p:ext uri="{BB962C8B-B14F-4D97-AF65-F5344CB8AC3E}">
        <p14:creationId xmlns:p14="http://schemas.microsoft.com/office/powerpoint/2010/main" val="1161577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4EE89D-30BD-427F-AB3E-B9AC87AB33B8}" type="datetimeFigureOut">
              <a:rPr lang="en-IN" smtClean="0"/>
              <a:t>02-07-2026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5E0376-D252-4487-B37D-0F9E04332317}" type="slidenum">
              <a:rPr lang="en-IN" smtClean="0"/>
              <a:t>‹#›</a:t>
            </a:fld>
            <a:endParaRPr lang="en-IN"/>
          </a:p>
        </p:txBody>
      </p:sp>
    </p:spTree>
    <p:extLst>
      <p:ext uri="{BB962C8B-B14F-4D97-AF65-F5344CB8AC3E}">
        <p14:creationId xmlns:p14="http://schemas.microsoft.com/office/powerpoint/2010/main" val="3401018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14EE89D-30BD-427F-AB3E-B9AC87AB33B8}" type="datetimeFigureOut">
              <a:rPr lang="en-IN" smtClean="0"/>
              <a:t>02-07-2026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05E0376-D252-4487-B37D-0F9E04332317}" type="slidenum">
              <a:rPr lang="en-IN" smtClean="0"/>
              <a:t>‹#›</a:t>
            </a:fld>
            <a:endParaRPr lang="en-IN"/>
          </a:p>
        </p:txBody>
      </p:sp>
    </p:spTree>
    <p:extLst>
      <p:ext uri="{BB962C8B-B14F-4D97-AF65-F5344CB8AC3E}">
        <p14:creationId xmlns:p14="http://schemas.microsoft.com/office/powerpoint/2010/main" val="3031129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14EE89D-30BD-427F-AB3E-B9AC87AB33B8}" type="datetimeFigureOut">
              <a:rPr lang="en-IN" smtClean="0"/>
              <a:t>02-07-2026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05E0376-D252-4487-B37D-0F9E04332317}" type="slidenum">
              <a:rPr lang="en-IN" smtClean="0"/>
              <a:t>‹#›</a:t>
            </a:fld>
            <a:endParaRPr lang="en-IN"/>
          </a:p>
        </p:txBody>
      </p:sp>
    </p:spTree>
    <p:extLst>
      <p:ext uri="{BB962C8B-B14F-4D97-AF65-F5344CB8AC3E}">
        <p14:creationId xmlns:p14="http://schemas.microsoft.com/office/powerpoint/2010/main" val="1103194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4EE89D-30BD-427F-AB3E-B9AC87AB33B8}" type="datetimeFigureOut">
              <a:rPr lang="en-IN" smtClean="0"/>
              <a:t>02-07-2026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5E0376-D252-4487-B37D-0F9E04332317}" type="slidenum">
              <a:rPr lang="en-IN" smtClean="0"/>
              <a:t>‹#›</a:t>
            </a:fld>
            <a:endParaRPr lang="en-IN"/>
          </a:p>
        </p:txBody>
      </p:sp>
    </p:spTree>
    <p:extLst>
      <p:ext uri="{BB962C8B-B14F-4D97-AF65-F5344CB8AC3E}">
        <p14:creationId xmlns:p14="http://schemas.microsoft.com/office/powerpoint/2010/main" val="1060104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4EE89D-30BD-427F-AB3E-B9AC87AB33B8}"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E0376-D252-4487-B37D-0F9E04332317}" type="slidenum">
              <a:rPr lang="en-IN" smtClean="0"/>
              <a:t>‹#›</a:t>
            </a:fld>
            <a:endParaRPr lang="en-IN"/>
          </a:p>
        </p:txBody>
      </p:sp>
    </p:spTree>
    <p:extLst>
      <p:ext uri="{BB962C8B-B14F-4D97-AF65-F5344CB8AC3E}">
        <p14:creationId xmlns:p14="http://schemas.microsoft.com/office/powerpoint/2010/main" val="308619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4EE89D-30BD-427F-AB3E-B9AC87AB33B8}"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E0376-D252-4487-B37D-0F9E04332317}" type="slidenum">
              <a:rPr lang="en-IN" smtClean="0"/>
              <a:t>‹#›</a:t>
            </a:fld>
            <a:endParaRPr lang="en-IN"/>
          </a:p>
        </p:txBody>
      </p:sp>
    </p:spTree>
    <p:extLst>
      <p:ext uri="{BB962C8B-B14F-4D97-AF65-F5344CB8AC3E}">
        <p14:creationId xmlns:p14="http://schemas.microsoft.com/office/powerpoint/2010/main" val="905218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14EE89D-30BD-427F-AB3E-B9AC87AB33B8}" type="datetimeFigureOut">
              <a:rPr lang="en-IN" smtClean="0"/>
              <a:t>02-07-2026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05E0376-D252-4487-B37D-0F9E0433231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78009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5E58-27D0-17C7-3616-1F7B16038E13}"/>
              </a:ext>
            </a:extLst>
          </p:cNvPr>
          <p:cNvSpPr>
            <a:spLocks noGrp="1"/>
          </p:cNvSpPr>
          <p:nvPr>
            <p:ph type="ctrTitle"/>
          </p:nvPr>
        </p:nvSpPr>
        <p:spPr>
          <a:xfrm>
            <a:off x="1524000" y="1122363"/>
            <a:ext cx="9144000" cy="3262824"/>
          </a:xfrm>
        </p:spPr>
        <p:txBody>
          <a:bodyPr/>
          <a:lstStyle/>
          <a:p>
            <a:r>
              <a:rPr lang="en-IN" dirty="0"/>
              <a:t>Superstore Sales Performance Dashboard</a:t>
            </a:r>
          </a:p>
        </p:txBody>
      </p:sp>
    </p:spTree>
    <p:extLst>
      <p:ext uri="{BB962C8B-B14F-4D97-AF65-F5344CB8AC3E}">
        <p14:creationId xmlns:p14="http://schemas.microsoft.com/office/powerpoint/2010/main" val="2600459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B94575-1689-7FC3-83FB-C909CD3B21CE}"/>
              </a:ext>
            </a:extLst>
          </p:cNvPr>
          <p:cNvSpPr txBox="1"/>
          <p:nvPr/>
        </p:nvSpPr>
        <p:spPr>
          <a:xfrm>
            <a:off x="1000434" y="847720"/>
            <a:ext cx="6440128" cy="584775"/>
          </a:xfrm>
          <a:prstGeom prst="rect">
            <a:avLst/>
          </a:prstGeom>
          <a:noFill/>
        </p:spPr>
        <p:txBody>
          <a:bodyPr wrap="square">
            <a:spAutoFit/>
          </a:bodyPr>
          <a:lstStyle/>
          <a:p>
            <a:r>
              <a:rPr lang="en-IN" sz="3200" b="1" dirty="0"/>
              <a:t>Tools Used</a:t>
            </a:r>
            <a:endParaRPr lang="en-IN" sz="3200" dirty="0"/>
          </a:p>
        </p:txBody>
      </p:sp>
      <p:sp>
        <p:nvSpPr>
          <p:cNvPr id="7" name="TextBox 6">
            <a:extLst>
              <a:ext uri="{FF2B5EF4-FFF2-40B4-BE49-F238E27FC236}">
                <a16:creationId xmlns:a16="http://schemas.microsoft.com/office/drawing/2014/main" id="{7605D660-E0E7-1257-A3DF-BCD4FC17BCAE}"/>
              </a:ext>
            </a:extLst>
          </p:cNvPr>
          <p:cNvSpPr txBox="1"/>
          <p:nvPr/>
        </p:nvSpPr>
        <p:spPr>
          <a:xfrm>
            <a:off x="1410930" y="1676209"/>
            <a:ext cx="3760838" cy="1200329"/>
          </a:xfrm>
          <a:prstGeom prst="rect">
            <a:avLst/>
          </a:prstGeom>
          <a:noFill/>
        </p:spPr>
        <p:txBody>
          <a:bodyPr wrap="square">
            <a:spAutoFit/>
          </a:bodyPr>
          <a:lstStyle/>
          <a:p>
            <a:pPr marL="342900" indent="-342900">
              <a:buFont typeface="Arial" panose="020B0604020202020204" pitchFamily="34" charset="0"/>
              <a:buChar char="•"/>
            </a:pPr>
            <a:r>
              <a:rPr lang="en-IN" sz="2400" dirty="0"/>
              <a:t>Power BI </a:t>
            </a:r>
          </a:p>
          <a:p>
            <a:pPr marL="342900" indent="-342900">
              <a:buFont typeface="Arial" panose="020B0604020202020204" pitchFamily="34" charset="0"/>
              <a:buChar char="•"/>
            </a:pPr>
            <a:r>
              <a:rPr lang="en-IN" sz="2400" dirty="0"/>
              <a:t>Power Query </a:t>
            </a:r>
          </a:p>
          <a:p>
            <a:pPr marL="342900" indent="-342900">
              <a:buFont typeface="Arial" panose="020B0604020202020204" pitchFamily="34" charset="0"/>
              <a:buChar char="•"/>
            </a:pPr>
            <a:r>
              <a:rPr lang="en-IN" sz="2400" dirty="0"/>
              <a:t>DAX</a:t>
            </a:r>
          </a:p>
        </p:txBody>
      </p:sp>
      <p:sp>
        <p:nvSpPr>
          <p:cNvPr id="8" name="TextBox 7">
            <a:extLst>
              <a:ext uri="{FF2B5EF4-FFF2-40B4-BE49-F238E27FC236}">
                <a16:creationId xmlns:a16="http://schemas.microsoft.com/office/drawing/2014/main" id="{7B61D7F0-2503-F900-D400-DDE67146D367}"/>
              </a:ext>
            </a:extLst>
          </p:cNvPr>
          <p:cNvSpPr txBox="1"/>
          <p:nvPr/>
        </p:nvSpPr>
        <p:spPr>
          <a:xfrm>
            <a:off x="1022556" y="3561255"/>
            <a:ext cx="6440128" cy="584775"/>
          </a:xfrm>
          <a:prstGeom prst="rect">
            <a:avLst/>
          </a:prstGeom>
          <a:noFill/>
        </p:spPr>
        <p:txBody>
          <a:bodyPr wrap="square">
            <a:spAutoFit/>
          </a:bodyPr>
          <a:lstStyle/>
          <a:p>
            <a:r>
              <a:rPr lang="en-IN" sz="3200" b="1" dirty="0"/>
              <a:t>Dataset</a:t>
            </a:r>
          </a:p>
        </p:txBody>
      </p:sp>
      <p:sp>
        <p:nvSpPr>
          <p:cNvPr id="10" name="TextBox 9">
            <a:extLst>
              <a:ext uri="{FF2B5EF4-FFF2-40B4-BE49-F238E27FC236}">
                <a16:creationId xmlns:a16="http://schemas.microsoft.com/office/drawing/2014/main" id="{7C073327-CD15-B911-5E98-3126F96BC1C5}"/>
              </a:ext>
            </a:extLst>
          </p:cNvPr>
          <p:cNvSpPr txBox="1"/>
          <p:nvPr/>
        </p:nvSpPr>
        <p:spPr>
          <a:xfrm>
            <a:off x="1410930" y="4461415"/>
            <a:ext cx="6096000" cy="461665"/>
          </a:xfrm>
          <a:prstGeom prst="rect">
            <a:avLst/>
          </a:prstGeom>
          <a:noFill/>
        </p:spPr>
        <p:txBody>
          <a:bodyPr wrap="square">
            <a:spAutoFit/>
          </a:bodyPr>
          <a:lstStyle/>
          <a:p>
            <a:r>
              <a:rPr lang="en-IN" sz="2400" dirty="0"/>
              <a:t>Superstore Sales Dataset </a:t>
            </a:r>
          </a:p>
        </p:txBody>
      </p:sp>
    </p:spTree>
    <p:extLst>
      <p:ext uri="{BB962C8B-B14F-4D97-AF65-F5344CB8AC3E}">
        <p14:creationId xmlns:p14="http://schemas.microsoft.com/office/powerpoint/2010/main" val="3247772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DF0757-1345-3658-5DE4-7153FDC7EC08}"/>
              </a:ext>
            </a:extLst>
          </p:cNvPr>
          <p:cNvSpPr txBox="1"/>
          <p:nvPr/>
        </p:nvSpPr>
        <p:spPr>
          <a:xfrm>
            <a:off x="3048000" y="611746"/>
            <a:ext cx="6096000" cy="707886"/>
          </a:xfrm>
          <a:prstGeom prst="rect">
            <a:avLst/>
          </a:prstGeom>
          <a:noFill/>
        </p:spPr>
        <p:txBody>
          <a:bodyPr wrap="square">
            <a:spAutoFit/>
          </a:bodyPr>
          <a:lstStyle/>
          <a:p>
            <a:pPr algn="ctr"/>
            <a:r>
              <a:rPr lang="en-IN" sz="4000" b="1" dirty="0"/>
              <a:t>Project Objective</a:t>
            </a:r>
          </a:p>
        </p:txBody>
      </p:sp>
      <p:sp>
        <p:nvSpPr>
          <p:cNvPr id="5" name="TextBox 4">
            <a:extLst>
              <a:ext uri="{FF2B5EF4-FFF2-40B4-BE49-F238E27FC236}">
                <a16:creationId xmlns:a16="http://schemas.microsoft.com/office/drawing/2014/main" id="{DDD87718-A43A-08EE-94DD-F02C12FB02CF}"/>
              </a:ext>
            </a:extLst>
          </p:cNvPr>
          <p:cNvSpPr txBox="1"/>
          <p:nvPr/>
        </p:nvSpPr>
        <p:spPr>
          <a:xfrm>
            <a:off x="1081549" y="1612491"/>
            <a:ext cx="10451690" cy="3539430"/>
          </a:xfrm>
          <a:prstGeom prst="rect">
            <a:avLst/>
          </a:prstGeom>
          <a:noFill/>
        </p:spPr>
        <p:txBody>
          <a:bodyPr wrap="square">
            <a:spAutoFit/>
          </a:bodyPr>
          <a:lstStyle/>
          <a:p>
            <a:pPr algn="ctr">
              <a:buNone/>
            </a:pPr>
            <a:r>
              <a:rPr lang="en-IN" sz="3200" dirty="0"/>
              <a:t>The objective of this project was to design an interactive Power BI dashboard for business stakeholders to monitor sales performance, profitability, customer segments, product categories, and regional performance. The dashboard enables users to explore data through interactive filters and supports data-driven decision-making.</a:t>
            </a:r>
          </a:p>
        </p:txBody>
      </p:sp>
    </p:spTree>
    <p:extLst>
      <p:ext uri="{BB962C8B-B14F-4D97-AF65-F5344CB8AC3E}">
        <p14:creationId xmlns:p14="http://schemas.microsoft.com/office/powerpoint/2010/main" val="2871092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1E731-FA33-2E68-89AE-947904490A89}"/>
              </a:ext>
            </a:extLst>
          </p:cNvPr>
          <p:cNvSpPr txBox="1"/>
          <p:nvPr/>
        </p:nvSpPr>
        <p:spPr>
          <a:xfrm>
            <a:off x="2871020" y="533090"/>
            <a:ext cx="6096000" cy="523220"/>
          </a:xfrm>
          <a:prstGeom prst="rect">
            <a:avLst/>
          </a:prstGeom>
          <a:noFill/>
        </p:spPr>
        <p:txBody>
          <a:bodyPr wrap="square">
            <a:spAutoFit/>
          </a:bodyPr>
          <a:lstStyle/>
          <a:p>
            <a:pPr algn="ctr"/>
            <a:r>
              <a:rPr lang="en-IN" sz="2800" b="1" dirty="0"/>
              <a:t>KPIs Used</a:t>
            </a:r>
          </a:p>
        </p:txBody>
      </p:sp>
      <p:sp>
        <p:nvSpPr>
          <p:cNvPr id="5" name="TextBox 4">
            <a:extLst>
              <a:ext uri="{FF2B5EF4-FFF2-40B4-BE49-F238E27FC236}">
                <a16:creationId xmlns:a16="http://schemas.microsoft.com/office/drawing/2014/main" id="{44F03925-DDED-FFA3-117A-6741DDED5D66}"/>
              </a:ext>
            </a:extLst>
          </p:cNvPr>
          <p:cNvSpPr txBox="1"/>
          <p:nvPr/>
        </p:nvSpPr>
        <p:spPr>
          <a:xfrm>
            <a:off x="698089" y="1406012"/>
            <a:ext cx="10599175" cy="4524315"/>
          </a:xfrm>
          <a:prstGeom prst="rect">
            <a:avLst/>
          </a:prstGeom>
          <a:noFill/>
        </p:spPr>
        <p:txBody>
          <a:bodyPr wrap="square">
            <a:spAutoFit/>
          </a:bodyPr>
          <a:lstStyle/>
          <a:p>
            <a:pPr>
              <a:buNone/>
            </a:pPr>
            <a:r>
              <a:rPr lang="en-IN" sz="2400" dirty="0"/>
              <a:t>The dashboard includes the following Key Performance Indicators (KPIs):</a:t>
            </a:r>
          </a:p>
          <a:p>
            <a:pPr>
              <a:buNone/>
            </a:pPr>
            <a:endParaRPr lang="en-IN" sz="2400" dirty="0"/>
          </a:p>
          <a:p>
            <a:pPr>
              <a:buFont typeface="Arial" panose="020B0604020202020204" pitchFamily="34" charset="0"/>
              <a:buChar char="•"/>
            </a:pPr>
            <a:r>
              <a:rPr lang="en-IN" sz="2400" dirty="0"/>
              <a:t> Total Sales </a:t>
            </a:r>
          </a:p>
          <a:p>
            <a:pPr>
              <a:buFont typeface="Arial" panose="020B0604020202020204" pitchFamily="34" charset="0"/>
              <a:buChar char="•"/>
            </a:pPr>
            <a:r>
              <a:rPr lang="en-IN" sz="2400" dirty="0"/>
              <a:t> Total Profit </a:t>
            </a:r>
          </a:p>
          <a:p>
            <a:pPr>
              <a:buFont typeface="Arial" panose="020B0604020202020204" pitchFamily="34" charset="0"/>
              <a:buChar char="•"/>
            </a:pPr>
            <a:r>
              <a:rPr lang="en-IN" sz="2400" dirty="0"/>
              <a:t> Total Orders </a:t>
            </a:r>
          </a:p>
          <a:p>
            <a:pPr>
              <a:buFont typeface="Arial" panose="020B0604020202020204" pitchFamily="34" charset="0"/>
              <a:buChar char="•"/>
            </a:pPr>
            <a:r>
              <a:rPr lang="en-IN" sz="2400" dirty="0"/>
              <a:t> Profit Margin </a:t>
            </a:r>
          </a:p>
          <a:p>
            <a:pPr>
              <a:buFont typeface="Arial" panose="020B0604020202020204" pitchFamily="34" charset="0"/>
              <a:buChar char="•"/>
            </a:pPr>
            <a:r>
              <a:rPr lang="en-IN" sz="2400" dirty="0"/>
              <a:t> Average Discount </a:t>
            </a:r>
          </a:p>
          <a:p>
            <a:pPr>
              <a:buFont typeface="Arial" panose="020B0604020202020204" pitchFamily="34" charset="0"/>
              <a:buChar char="•"/>
            </a:pPr>
            <a:r>
              <a:rPr lang="en-IN" sz="2400" dirty="0"/>
              <a:t> Average Order Value </a:t>
            </a:r>
          </a:p>
          <a:p>
            <a:pPr>
              <a:buFont typeface="Arial" panose="020B0604020202020204" pitchFamily="34" charset="0"/>
              <a:buChar char="•"/>
            </a:pPr>
            <a:endParaRPr lang="en-IN" sz="2400" dirty="0"/>
          </a:p>
          <a:p>
            <a:pPr>
              <a:buFont typeface="Arial" panose="020B0604020202020204" pitchFamily="34" charset="0"/>
              <a:buChar char="•"/>
            </a:pPr>
            <a:endParaRPr lang="en-IN" sz="2400" dirty="0"/>
          </a:p>
          <a:p>
            <a:pPr>
              <a:buFont typeface="Arial" panose="020B0604020202020204" pitchFamily="34" charset="0"/>
              <a:buChar char="•"/>
            </a:pPr>
            <a:endParaRPr lang="en-IN" sz="2400" dirty="0"/>
          </a:p>
          <a:p>
            <a:pPr>
              <a:buNone/>
            </a:pPr>
            <a:r>
              <a:rPr lang="en-IN" sz="2400" dirty="0"/>
              <a:t>These KPIs provide a high-level overview of business performance.</a:t>
            </a:r>
          </a:p>
        </p:txBody>
      </p:sp>
    </p:spTree>
    <p:extLst>
      <p:ext uri="{BB962C8B-B14F-4D97-AF65-F5344CB8AC3E}">
        <p14:creationId xmlns:p14="http://schemas.microsoft.com/office/powerpoint/2010/main" val="3727001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CE16F7-088C-0703-73A6-888521D0486E}"/>
              </a:ext>
            </a:extLst>
          </p:cNvPr>
          <p:cNvSpPr txBox="1"/>
          <p:nvPr/>
        </p:nvSpPr>
        <p:spPr>
          <a:xfrm>
            <a:off x="2344992" y="700236"/>
            <a:ext cx="7905136" cy="584775"/>
          </a:xfrm>
          <a:prstGeom prst="rect">
            <a:avLst/>
          </a:prstGeom>
          <a:noFill/>
        </p:spPr>
        <p:txBody>
          <a:bodyPr wrap="square">
            <a:spAutoFit/>
          </a:bodyPr>
          <a:lstStyle/>
          <a:p>
            <a:pPr algn="ctr"/>
            <a:r>
              <a:rPr lang="en-IN" sz="3200" b="1" dirty="0"/>
              <a:t>Dashboard Features</a:t>
            </a:r>
          </a:p>
        </p:txBody>
      </p:sp>
      <p:sp>
        <p:nvSpPr>
          <p:cNvPr id="5" name="TextBox 4">
            <a:extLst>
              <a:ext uri="{FF2B5EF4-FFF2-40B4-BE49-F238E27FC236}">
                <a16:creationId xmlns:a16="http://schemas.microsoft.com/office/drawing/2014/main" id="{823BA71B-7038-45A5-C8FF-5CD2F7C720FD}"/>
              </a:ext>
            </a:extLst>
          </p:cNvPr>
          <p:cNvSpPr txBox="1"/>
          <p:nvPr/>
        </p:nvSpPr>
        <p:spPr>
          <a:xfrm>
            <a:off x="855406" y="1823640"/>
            <a:ext cx="10884309" cy="3416320"/>
          </a:xfrm>
          <a:prstGeom prst="rect">
            <a:avLst/>
          </a:prstGeom>
          <a:noFill/>
        </p:spPr>
        <p:txBody>
          <a:bodyPr wrap="square">
            <a:spAutoFit/>
          </a:bodyPr>
          <a:lstStyle/>
          <a:p>
            <a:pPr>
              <a:buNone/>
            </a:pPr>
            <a:r>
              <a:rPr lang="en-IN" sz="2400" dirty="0"/>
              <a:t>The dashboard includes several interactive features:</a:t>
            </a:r>
          </a:p>
          <a:p>
            <a:pPr>
              <a:buNone/>
            </a:pPr>
            <a:endParaRPr lang="en-IN" sz="2400" dirty="0"/>
          </a:p>
          <a:p>
            <a:pPr>
              <a:buFont typeface="Arial" panose="020B0604020202020204" pitchFamily="34" charset="0"/>
              <a:buChar char="•"/>
            </a:pPr>
            <a:r>
              <a:rPr lang="en-IN" sz="2400" dirty="0"/>
              <a:t> KPI Cards for business summary </a:t>
            </a:r>
          </a:p>
          <a:p>
            <a:pPr>
              <a:buFont typeface="Arial" panose="020B0604020202020204" pitchFamily="34" charset="0"/>
              <a:buChar char="•"/>
            </a:pPr>
            <a:r>
              <a:rPr lang="en-IN" sz="2400" dirty="0"/>
              <a:t> Interactive slicers for Segment, Region, and Category </a:t>
            </a:r>
          </a:p>
          <a:p>
            <a:pPr>
              <a:buFont typeface="Arial" panose="020B0604020202020204" pitchFamily="34" charset="0"/>
              <a:buChar char="•"/>
            </a:pPr>
            <a:r>
              <a:rPr lang="en-IN" sz="2400" dirty="0"/>
              <a:t> Sales vs Profit by Category </a:t>
            </a:r>
          </a:p>
          <a:p>
            <a:pPr>
              <a:buFont typeface="Arial" panose="020B0604020202020204" pitchFamily="34" charset="0"/>
              <a:buChar char="•"/>
            </a:pPr>
            <a:r>
              <a:rPr lang="en-IN" sz="2400" dirty="0"/>
              <a:t> Sales vs Profit by Segment </a:t>
            </a:r>
          </a:p>
          <a:p>
            <a:pPr>
              <a:buFont typeface="Arial" panose="020B0604020202020204" pitchFamily="34" charset="0"/>
              <a:buChar char="•"/>
            </a:pPr>
            <a:r>
              <a:rPr lang="en-IN" sz="2400" dirty="0"/>
              <a:t> Profit by Sub-Category </a:t>
            </a:r>
          </a:p>
          <a:p>
            <a:pPr>
              <a:buFont typeface="Arial" panose="020B0604020202020204" pitchFamily="34" charset="0"/>
              <a:buChar char="•"/>
            </a:pPr>
            <a:r>
              <a:rPr lang="en-IN" sz="2400" dirty="0"/>
              <a:t> Top 10 States by Sales </a:t>
            </a:r>
          </a:p>
          <a:p>
            <a:pPr>
              <a:buFont typeface="Arial" panose="020B0604020202020204" pitchFamily="34" charset="0"/>
              <a:buChar char="•"/>
            </a:pPr>
            <a:r>
              <a:rPr lang="en-IN" sz="2400" dirty="0"/>
              <a:t> Discount vs Profit Analysis</a:t>
            </a:r>
          </a:p>
        </p:txBody>
      </p:sp>
    </p:spTree>
    <p:extLst>
      <p:ext uri="{BB962C8B-B14F-4D97-AF65-F5344CB8AC3E}">
        <p14:creationId xmlns:p14="http://schemas.microsoft.com/office/powerpoint/2010/main" val="931062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971A4A-D584-E1A5-1455-720E0CB11632}"/>
              </a:ext>
            </a:extLst>
          </p:cNvPr>
          <p:cNvSpPr txBox="1"/>
          <p:nvPr/>
        </p:nvSpPr>
        <p:spPr>
          <a:xfrm>
            <a:off x="776748" y="592081"/>
            <a:ext cx="9969910" cy="584775"/>
          </a:xfrm>
          <a:prstGeom prst="rect">
            <a:avLst/>
          </a:prstGeom>
          <a:noFill/>
        </p:spPr>
        <p:txBody>
          <a:bodyPr wrap="square">
            <a:spAutoFit/>
          </a:bodyPr>
          <a:lstStyle/>
          <a:p>
            <a:pPr algn="ctr"/>
            <a:r>
              <a:rPr lang="en-IN" sz="2800" b="1" dirty="0"/>
              <a:t>Key Business </a:t>
            </a:r>
            <a:r>
              <a:rPr lang="en-IN" sz="3200" b="1" dirty="0"/>
              <a:t>Insights</a:t>
            </a:r>
            <a:endParaRPr lang="en-IN" sz="2800" b="1" dirty="0"/>
          </a:p>
        </p:txBody>
      </p:sp>
      <p:sp>
        <p:nvSpPr>
          <p:cNvPr id="5" name="TextBox 4">
            <a:extLst>
              <a:ext uri="{FF2B5EF4-FFF2-40B4-BE49-F238E27FC236}">
                <a16:creationId xmlns:a16="http://schemas.microsoft.com/office/drawing/2014/main" id="{B54EB561-61CD-B0E3-AC43-65B4B0A11B26}"/>
              </a:ext>
            </a:extLst>
          </p:cNvPr>
          <p:cNvSpPr txBox="1"/>
          <p:nvPr/>
        </p:nvSpPr>
        <p:spPr>
          <a:xfrm>
            <a:off x="1238864" y="1905506"/>
            <a:ext cx="9193162" cy="3046988"/>
          </a:xfrm>
          <a:prstGeom prst="rect">
            <a:avLst/>
          </a:prstGeom>
          <a:noFill/>
        </p:spPr>
        <p:txBody>
          <a:bodyPr wrap="square">
            <a:spAutoFit/>
          </a:bodyPr>
          <a:lstStyle/>
          <a:p>
            <a:pPr marL="342900" indent="-342900">
              <a:buFont typeface="Arial" panose="020B0604020202020204" pitchFamily="34" charset="0"/>
              <a:buChar char="•"/>
            </a:pPr>
            <a:r>
              <a:rPr lang="en-IN" sz="2400" dirty="0"/>
              <a:t> Total sales reached </a:t>
            </a:r>
            <a:r>
              <a:rPr lang="en-IN" sz="2400" b="1" dirty="0"/>
              <a:t>$2M</a:t>
            </a:r>
            <a:r>
              <a:rPr lang="en-IN" sz="2400" dirty="0"/>
              <a:t>, generating </a:t>
            </a:r>
            <a:r>
              <a:rPr lang="en-IN" sz="2400" b="1" dirty="0"/>
              <a:t>$286K</a:t>
            </a:r>
            <a:r>
              <a:rPr lang="en-IN" sz="2400" dirty="0"/>
              <a:t> in profit. </a:t>
            </a:r>
          </a:p>
          <a:p>
            <a:pPr marL="342900" indent="-342900">
              <a:buFont typeface="Arial" panose="020B0604020202020204" pitchFamily="34" charset="0"/>
              <a:buChar char="•"/>
            </a:pPr>
            <a:r>
              <a:rPr lang="en-IN" sz="2400" dirty="0"/>
              <a:t>Overall profit margin is </a:t>
            </a:r>
            <a:r>
              <a:rPr lang="en-IN" sz="2400" b="1" dirty="0"/>
              <a:t>12.47%</a:t>
            </a:r>
            <a:r>
              <a:rPr lang="en-IN" sz="2400" dirty="0"/>
              <a:t>. </a:t>
            </a:r>
          </a:p>
          <a:p>
            <a:pPr marL="342900" indent="-342900">
              <a:buFont typeface="Arial" panose="020B0604020202020204" pitchFamily="34" charset="0"/>
              <a:buChar char="•"/>
            </a:pPr>
            <a:r>
              <a:rPr lang="en-IN" sz="2400" dirty="0"/>
              <a:t>The Consumer segment contributes the highest sales and profit.</a:t>
            </a:r>
          </a:p>
          <a:p>
            <a:pPr marL="342900" indent="-342900">
              <a:buFont typeface="Arial" panose="020B0604020202020204" pitchFamily="34" charset="0"/>
              <a:buChar char="•"/>
            </a:pPr>
            <a:r>
              <a:rPr lang="en-IN" sz="2400" dirty="0"/>
              <a:t>Technology is the highest-performing category. </a:t>
            </a:r>
          </a:p>
          <a:p>
            <a:pPr marL="342900" indent="-342900">
              <a:buFont typeface="Arial" panose="020B0604020202020204" pitchFamily="34" charset="0"/>
              <a:buChar char="•"/>
            </a:pPr>
            <a:r>
              <a:rPr lang="en-IN" sz="2400" dirty="0"/>
              <a:t>California and New York are the top-performing states. </a:t>
            </a:r>
          </a:p>
          <a:p>
            <a:pPr marL="342900" indent="-342900">
              <a:buFont typeface="Arial" panose="020B0604020202020204" pitchFamily="34" charset="0"/>
              <a:buChar char="•"/>
            </a:pPr>
            <a:r>
              <a:rPr lang="en-IN" sz="2400" dirty="0"/>
              <a:t>Copiers are the most profitable sub-category. </a:t>
            </a:r>
          </a:p>
          <a:p>
            <a:pPr marL="342900" indent="-342900">
              <a:buFont typeface="Arial" panose="020B0604020202020204" pitchFamily="34" charset="0"/>
              <a:buChar char="•"/>
            </a:pPr>
            <a:r>
              <a:rPr lang="en-IN" sz="2400" dirty="0"/>
              <a:t>Higher discounts generally reduce profitability, indicating that discount strategies should be reviewed.</a:t>
            </a:r>
          </a:p>
        </p:txBody>
      </p:sp>
    </p:spTree>
    <p:extLst>
      <p:ext uri="{BB962C8B-B14F-4D97-AF65-F5344CB8AC3E}">
        <p14:creationId xmlns:p14="http://schemas.microsoft.com/office/powerpoint/2010/main" val="3969928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BB03B5-AECD-EAAA-AA12-29FEA6094FE9}"/>
              </a:ext>
            </a:extLst>
          </p:cNvPr>
          <p:cNvSpPr txBox="1"/>
          <p:nvPr/>
        </p:nvSpPr>
        <p:spPr>
          <a:xfrm>
            <a:off x="314632" y="1221347"/>
            <a:ext cx="11169446" cy="523220"/>
          </a:xfrm>
          <a:prstGeom prst="rect">
            <a:avLst/>
          </a:prstGeom>
          <a:noFill/>
        </p:spPr>
        <p:txBody>
          <a:bodyPr wrap="square">
            <a:spAutoFit/>
          </a:bodyPr>
          <a:lstStyle/>
          <a:p>
            <a:pPr algn="ctr"/>
            <a:r>
              <a:rPr lang="en-IN" sz="2800" b="1" dirty="0"/>
              <a:t>Business Recommendations</a:t>
            </a:r>
          </a:p>
        </p:txBody>
      </p:sp>
      <p:sp>
        <p:nvSpPr>
          <p:cNvPr id="7" name="TextBox 6">
            <a:extLst>
              <a:ext uri="{FF2B5EF4-FFF2-40B4-BE49-F238E27FC236}">
                <a16:creationId xmlns:a16="http://schemas.microsoft.com/office/drawing/2014/main" id="{8DCDFCFE-41C3-AA79-1A92-37EA0094B7D4}"/>
              </a:ext>
            </a:extLst>
          </p:cNvPr>
          <p:cNvSpPr txBox="1"/>
          <p:nvPr/>
        </p:nvSpPr>
        <p:spPr>
          <a:xfrm>
            <a:off x="786581" y="2467896"/>
            <a:ext cx="10933471" cy="2308324"/>
          </a:xfrm>
          <a:prstGeom prst="rect">
            <a:avLst/>
          </a:prstGeom>
          <a:noFill/>
        </p:spPr>
        <p:txBody>
          <a:bodyPr wrap="square">
            <a:spAutoFit/>
          </a:bodyPr>
          <a:lstStyle/>
          <a:p>
            <a:pPr marL="342900" indent="-342900">
              <a:buFont typeface="Arial" panose="020B0604020202020204" pitchFamily="34" charset="0"/>
              <a:buChar char="•"/>
            </a:pPr>
            <a:r>
              <a:rPr lang="en-IN" sz="2400" dirty="0"/>
              <a:t>Continue investing in high-performing product categories such as Technology.</a:t>
            </a:r>
          </a:p>
          <a:p>
            <a:pPr marL="342900" indent="-342900">
              <a:buFont typeface="Arial" panose="020B0604020202020204" pitchFamily="34" charset="0"/>
              <a:buChar char="•"/>
            </a:pPr>
            <a:r>
              <a:rPr lang="en-IN" sz="2400" dirty="0"/>
              <a:t>Optimize discount strategies to improve profitability. </a:t>
            </a:r>
          </a:p>
          <a:p>
            <a:pPr marL="342900" indent="-342900">
              <a:buFont typeface="Arial" panose="020B0604020202020204" pitchFamily="34" charset="0"/>
              <a:buChar char="•"/>
            </a:pPr>
            <a:r>
              <a:rPr lang="en-IN" sz="2400" dirty="0"/>
              <a:t>Focus marketing efforts on top-performing states while identifying growth opportunities in lower-performing regions. </a:t>
            </a:r>
          </a:p>
          <a:p>
            <a:pPr marL="342900" indent="-342900">
              <a:buFont typeface="Arial" panose="020B0604020202020204" pitchFamily="34" charset="0"/>
              <a:buChar char="•"/>
            </a:pPr>
            <a:r>
              <a:rPr lang="en-IN" sz="2400" dirty="0"/>
              <a:t>Monitor low-profit product categories and review pricing or promotional strategies.</a:t>
            </a:r>
          </a:p>
        </p:txBody>
      </p:sp>
    </p:spTree>
    <p:extLst>
      <p:ext uri="{BB962C8B-B14F-4D97-AF65-F5344CB8AC3E}">
        <p14:creationId xmlns:p14="http://schemas.microsoft.com/office/powerpoint/2010/main" val="2689318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775B99-5004-858C-D212-F608ADCD7381}"/>
              </a:ext>
            </a:extLst>
          </p:cNvPr>
          <p:cNvSpPr txBox="1"/>
          <p:nvPr/>
        </p:nvSpPr>
        <p:spPr>
          <a:xfrm>
            <a:off x="644012" y="592081"/>
            <a:ext cx="10903974" cy="584775"/>
          </a:xfrm>
          <a:prstGeom prst="rect">
            <a:avLst/>
          </a:prstGeom>
          <a:noFill/>
        </p:spPr>
        <p:txBody>
          <a:bodyPr wrap="square">
            <a:spAutoFit/>
          </a:bodyPr>
          <a:lstStyle/>
          <a:p>
            <a:pPr algn="ctr"/>
            <a:r>
              <a:rPr lang="en-IN" sz="3200" b="1" dirty="0"/>
              <a:t>Limitations</a:t>
            </a:r>
            <a:endParaRPr lang="en-IN" sz="2800" b="1" dirty="0"/>
          </a:p>
        </p:txBody>
      </p:sp>
      <p:sp>
        <p:nvSpPr>
          <p:cNvPr id="5" name="TextBox 4">
            <a:extLst>
              <a:ext uri="{FF2B5EF4-FFF2-40B4-BE49-F238E27FC236}">
                <a16:creationId xmlns:a16="http://schemas.microsoft.com/office/drawing/2014/main" id="{846E12AD-CE70-37C6-BF1F-54CA43DE2303}"/>
              </a:ext>
            </a:extLst>
          </p:cNvPr>
          <p:cNvSpPr txBox="1"/>
          <p:nvPr/>
        </p:nvSpPr>
        <p:spPr>
          <a:xfrm>
            <a:off x="818535" y="1730478"/>
            <a:ext cx="10554929" cy="3046988"/>
          </a:xfrm>
          <a:prstGeom prst="rect">
            <a:avLst/>
          </a:prstGeom>
          <a:noFill/>
        </p:spPr>
        <p:txBody>
          <a:bodyPr wrap="square">
            <a:spAutoFit/>
          </a:bodyPr>
          <a:lstStyle/>
          <a:p>
            <a:pPr>
              <a:buNone/>
            </a:pPr>
            <a:r>
              <a:rPr lang="en-IN" sz="2400" dirty="0"/>
              <a:t>The dataset does not contain a Date or Order Date column. As a result:</a:t>
            </a:r>
          </a:p>
          <a:p>
            <a:pPr>
              <a:buNone/>
            </a:pPr>
            <a:endParaRPr lang="en-IN" sz="2400" dirty="0"/>
          </a:p>
          <a:p>
            <a:pPr>
              <a:buFont typeface="Arial" panose="020B0604020202020204" pitchFamily="34" charset="0"/>
              <a:buChar char="•"/>
            </a:pPr>
            <a:r>
              <a:rPr lang="en-IN" sz="2400" dirty="0"/>
              <a:t> Time-series analysis could not be performed. </a:t>
            </a:r>
          </a:p>
          <a:p>
            <a:pPr>
              <a:buFont typeface="Arial" panose="020B0604020202020204" pitchFamily="34" charset="0"/>
              <a:buChar char="•"/>
            </a:pPr>
            <a:r>
              <a:rPr lang="en-IN" sz="2400" dirty="0"/>
              <a:t> Growth trends and year-over-year comparisons could not be included. </a:t>
            </a:r>
          </a:p>
          <a:p>
            <a:pPr>
              <a:buFont typeface="Arial" panose="020B0604020202020204" pitchFamily="34" charset="0"/>
              <a:buChar char="•"/>
            </a:pPr>
            <a:r>
              <a:rPr lang="en-IN" sz="2400" dirty="0"/>
              <a:t> A sales trend line chart could not be created. </a:t>
            </a:r>
          </a:p>
          <a:p>
            <a:endParaRPr lang="en-IN" sz="2400" dirty="0"/>
          </a:p>
          <a:p>
            <a:pPr>
              <a:buNone/>
            </a:pPr>
            <a:r>
              <a:rPr lang="en-IN" sz="2400" dirty="0"/>
              <a:t>Despite this limitation, the dashboard effectively supports interactive analysis using the available business dimensions.</a:t>
            </a:r>
          </a:p>
        </p:txBody>
      </p:sp>
    </p:spTree>
    <p:extLst>
      <p:ext uri="{BB962C8B-B14F-4D97-AF65-F5344CB8AC3E}">
        <p14:creationId xmlns:p14="http://schemas.microsoft.com/office/powerpoint/2010/main" val="16309887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14</TotalTime>
  <Words>334</Words>
  <Application>Microsoft Office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Retrospect</vt:lpstr>
      <vt:lpstr>Superstore Sales Performance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Snehal Vispute</dc:creator>
  <cp:lastModifiedBy>Snehal Vispute</cp:lastModifiedBy>
  <cp:revision>1</cp:revision>
  <dcterms:created xsi:type="dcterms:W3CDTF">2026-07-02T10:33:43Z</dcterms:created>
  <dcterms:modified xsi:type="dcterms:W3CDTF">2026-07-02T10:48:09Z</dcterms:modified>
</cp:coreProperties>
</file>